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60bf9495-e97e-dbec-f17b-c2d8221317f4}">
          <p14:sldIdLst>
            <p14:sldId id="256"/>
            <p14:sldId id="257"/>
          </p14:sldIdLst>
        </p14:section>
        <p14:section name="1. Problema" id="{be6de85d-61d3-299c-4900-2fe784647eb7}">
          <p14:sldIdLst>
            <p14:sldId id="258"/>
            <p14:sldId id="259"/>
          </p14:sldIdLst>
        </p14:section>
        <p14:section name="2. Fundamentos y técnica" id="{a1d78e06-885e-6c58-d9e0-edc1c32f06d8}">
          <p14:sldIdLst>
            <p14:sldId id="260"/>
            <p14:sldId id="261"/>
            <p14:sldId id="262"/>
          </p14:sldIdLst>
        </p14:section>
        <p14:section name="3. Datos" id="{c492c870-6971-15fb-fa10-afabfd79c09b}">
          <p14:sldIdLst>
            <p14:sldId id="263"/>
            <p14:sldId id="264"/>
          </p14:sldIdLst>
        </p14:section>
        <p14:section name="4. Modelo y evaluación" id="{eddfa889-f0b8-d700-b452-d53a09c12225}">
          <p14:sldIdLst>
            <p14:sldId id="265"/>
            <p14:sldId id="266"/>
            <p14:sldId id="267"/>
            <p14:sldId id="268"/>
            <p14:sldId id="269"/>
          </p14:sldIdLst>
        </p14:section>
        <p14:section name="5. Análisis crítico" id="{14c1ec45-d22a-d455-435c-90bfbef5b011}">
          <p14:sldIdLst>
            <p14:sldId id="270"/>
            <p14:sldId id="271"/>
          </p14:sldIdLst>
        </p14:section>
        <p14:section name="7. Aporte" id="{cf48f34e-70a0-ac37-5cd7-db9644399297}">
          <p14:sldIdLst>
            <p14:sldId id="272"/>
          </p14:sldIdLst>
        </p14:section>
        <p14:section name="Cierre" id="{81145e3a-58f7-53c0-7c3e-c29ad619a0bb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A1F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A1F38"/>
                </a:solidFill>
                <a:latin typeface="+mn-lt"/>
              </a:rPr>
              <a:t>Estado de matrícula de los 200 alumnos sintéticos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Alumnos</c:v>
                </c:pt>
              </c:strCache>
            </c:strRef>
          </c:tx>
          <c:spPr>
            <a:solidFill>
              <a:srgbClr val="7A29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23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Activa</c:v>
                  </c:pt>
                  <c:pt idx="1">
                    <c:v>Pago pendiente</c:v>
                  </c:pt>
                  <c:pt idx="2">
                    <c:v>Retirada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164</c:v>
                </c:pt>
                <c:pt idx="1">
                  <c:v>25</c:v>
                </c:pt>
                <c:pt idx="2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23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3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6E1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6B8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A1F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A1F38"/>
                </a:solidFill>
                <a:latin typeface="+mn-lt"/>
              </a:rPr>
              <a:t>Segundos por respuesta (50 consultas por corrida)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Intel / OpenVINO</c:v>
                </c:pt>
              </c:strCache>
            </c:strRef>
          </c:tx>
          <c:spPr>
            <a:solidFill>
              <a:srgbClr val="9C6B8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23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Mediana</c:v>
                  </c:pt>
                  <c:pt idx="1">
                    <c:v>p90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23.9</c:v>
                </c:pt>
                <c:pt idx="1">
                  <c:v>33.2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NVIDIA / CUDA</c:v>
                </c:pt>
              </c:strCache>
            </c:strRef>
          </c:tx>
          <c:spPr>
            <a:solidFill>
              <a:srgbClr val="7A294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23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Mediana</c:v>
                  </c:pt>
                  <c:pt idx="1">
                    <c:v>p90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1.4</c:v>
                </c:pt>
                <c:pt idx="1">
                  <c:v>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2623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3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6B8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A1F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A1F38"/>
                </a:solidFill>
                <a:latin typeface="+mn-lt"/>
              </a:rPr>
              <a:t>Porcentaje de aciertos según el umbral de relevancia BM25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Exactitud (50 preguntas)</c:v>
                </c:pt>
              </c:strCache>
            </c:strRef>
          </c:tx>
          <c:spPr>
            <a:solidFill>
              <a:srgbClr val="7A2948"/>
            </a:solidFill>
            <a:ln w="25400" cap="flat">
              <a:solidFill>
                <a:srgbClr val="7A294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7A2948"/>
              </a:solidFill>
              <a:ln w="9525" cap="flat">
                <a:solidFill>
                  <a:srgbClr val="7A29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</c:v>
                </c:pt>
                <c:pt idx="1">
                  <c:v>96</c:v>
                </c:pt>
                <c:pt idx="2">
                  <c:v>96</c:v>
                </c:pt>
                <c:pt idx="3">
                  <c:v>92</c:v>
                </c:pt>
                <c:pt idx="4">
                  <c:v>90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Detección sin información (15)</c:v>
                </c:pt>
              </c:strCache>
            </c:strRef>
          </c:tx>
          <c:spPr>
            <a:solidFill>
              <a:srgbClr val="C8963E"/>
            </a:solidFill>
            <a:ln w="25400" cap="flat">
              <a:solidFill>
                <a:srgbClr val="C896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963E"/>
              </a:solidFill>
              <a:ln w="9525" cap="flat">
                <a:solidFill>
                  <a:srgbClr val="C896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73.3</c:v>
                </c:pt>
                <c:pt idx="1">
                  <c:v>80</c:v>
                </c:pt>
                <c:pt idx="2">
                  <c:v>86.7</c:v>
                </c:pt>
                <c:pt idx="3">
                  <c:v>93.3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9C6B84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9C6B84"/>
                    </a:solidFill>
                    <a:latin typeface="Arial"/>
                  </a:rPr>
                  <a:t>Umbral (elegido: 3,0)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3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70"/>
        </c:scaling>
        <c:delete val="0"/>
        <c:axPos val="l"/>
        <c:majorGridlines>
          <c:spPr>
            <a:ln w="6350" cap="flat">
              <a:solidFill>
                <a:srgbClr val="E6E1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6B8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MALI Asistente, un prototipo de chatbot con IA para la comunidad educativa del Museo de Arte de Lima, diseñado para orientar a estudiantes y personal sin exponer datos personales. La exposición sigue los siete criterios de la rúbrica del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exposición sigue el orden de la rúbrica: problema, fundamentos y técnica, datos, modelo y evaluación, análisis crítico y conclusiones, estructura y referencias, y finalmente el aporte del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Gestión Educativa es una de las principales fuentes de ingreso del MALI. Hoy la información para atender a un alumno está repartida en siete colecciones de páginas y documentos, y datos como vacantes o el estado de matrícula no están publicados: solo se obtienen escribiendo al canal de atención. Además, esos datos son personales y están protegidos por la Ley 29733.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problema específico tiene una respuesta concreta en la solución y una métrica que la comprueba. Esa trazabilidad es la que luego verificamos en la evaluación.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ocho conceptos sustentan la solución. El riesgo central es la alucinación; RAG y la orquestación híbrida lo reducen. BM25 es adecuado para un corpus pequeño y explicable. MCP, el control por roles y la defensa contra prompt injection responden al requisito de proteger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Contrastamos cuatro alternativas con los requisitos: información actualizable, respuestas con fuente y control de acceso. Solo RAG cumple los tres sin reentrenar.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orquestador decide cómo se atiende cada mensaje: primero los controles de seguridad, luego los datos exactos directamente desde los archivos y solo al final el modelo, que redacta a partir de fragmentos recuperados. Así el modelo nunca toca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calidad del RAG depende del corpus. Limpiamos, segmentamos en 42 documentos breves con metadatos y normalizamos el texto, lo que redujo el ruido en 21,7 %. Los sinónimos permiten reconocer cómo preguntan realmente los alumnos.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el MALI no publica vacantes ni datos de alumnos, usamos archivos de demostración y 200 registros sintéticos reproducibles, con documentos y correos que no pueden coincidir con personas reales. Nunca se envían al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un modelo pequeño local por privacidad y costo. No hay entrenamiento: el ajuste consistió en indexar, calibrar estos parámetros con el banco de desarrollo e iterar las instrucciones. Dos iteraciones cambiaron la arquitectura: el modelo deformaba nombres y repetía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conversación empieza con menús numerados para evitar ambigüedades. El estudiante se matricula, registra su pago y consulta el estado verificando su identidad; el personal aprueba los pagos que no están conciliados.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el banco de 104 casos el sistema cumplió todas las metas. Ojo: la exactitud mide la recuperación de la fuente correcta, no la calificación humana del texto generado, que sigue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Medimos 50 consultas con el modelo en dos configuraciones locales. NVIDIA CUDA cumple la meta de latencia; Intel OpenVINO no. Las variantes y el hardware no son idénticos, así que comparamos configuraciones completas.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Además de porcentajes, calculamos MRR y la matriz de abstención. El análisis de sensibilidad muestra el compromiso entre responder y abstenerse; con 4,0 ambas metas se cumplen solo con la recuperación, lo que proponemos reevaluar con un banco independiente.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fallos del banco muestran los límites de la recuperación léxica. El hallazgo más importante es de seguridad: la sesión vive en memoria del proceso, por lo que no es válido afirmar seguridad en uso simultáneo solo por aprobar los 20 casos del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Priorizamos primero la seguridad entre sesiones y una evaluación con preguntas reales; luego la calidad de la recuperación y el despliegue institucional.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aporte no está en entrenar un modelo sino en integrarlo de forma segura para una institución sin equipo de TI especializado: separación estricta entre datos y redacción, IA local, seguridad en capas y supervisión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Respondiendo la pregunta de investigación: sí, en el prototipo. La lección principal es que la utilidad de la IA depende de combinar el modelo con reglas, controles y supervisión humana. Los siguientes pasos están en la diapositiva de mejoras.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son las referencias en las que se apoya la exposición; la lista completa en formato APA 7 está en 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una demostración en vivo del flujo del estudiante y, si hay tiempo, del menú del personal aprobando un pago.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5A1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MALI Asistente · IS302 Inteligencia Artificial · UPC 2026-2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7A29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51760"/>
            <a:ext cx="1005840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7680960" cy="23774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 Asistente: chatbot con IA para orientar a la comunidad educativa y proteger sus datos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IS302 Inteligencia Artificial · Profesor: Lennin Percy Cenas Vasquez · UPC 2026-2</a:t>
            </a:r>
            <a:endParaRPr lang="en-US" sz="1800" dirty="0"/>
          </a:p>
        </p:txBody>
      </p:sp>
      <p:pic>
        <p:nvPicPr>
          <p:cNvPr id="4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548640"/>
            <a:ext cx="1737360" cy="1737360"/>
          </a:xfrm>
          <a:prstGeom prst="rect">
            <a:avLst/>
          </a:prstGeom>
        </p:spPr>
      </p:pic>
      <p:sp>
        <p:nvSpPr>
          <p:cNvPr id="5" name="integrantes"/>
          <p:cNvSpPr txBox="1"/>
          <p:nvPr/>
        </p:nvSpPr>
        <p:spPr>
          <a:xfrm>
            <a:off x="8778240" y="2743200"/>
            <a:ext cx="292608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Integrantes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Hinostroza Vásquez, Alessandro Raúl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Fernandez Vasquez, Jose Jhoan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Yllisca Chipana, Mario Renato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Lauda Cardenas, Andre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Muñoz Luque, Alejandro Leonel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está organizada la exposición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4297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Problema planteado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Necesidad real del MALI y pregunta de investigación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394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816352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81635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724912"/>
            <a:ext cx="4297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Marco teórico y técnica de IA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Conceptos, alternativas y por qué RAG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803904"/>
            <a:ext cx="5394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032504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0325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941064"/>
            <a:ext cx="4297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Preparación de datos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Fuentes, limpieza, normalización y datos sintéticos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020056"/>
            <a:ext cx="5394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5248656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486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157216"/>
            <a:ext cx="4297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Modelo y evaluación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Phi-4-mini local, métricas y resultados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5394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1508760"/>
            <a:ext cx="4297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Análisis crítico y conclusiones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Errores, limitaciones y mejoras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217920" y="2587752"/>
            <a:ext cx="5394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2816352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281635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724912"/>
            <a:ext cx="4297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Estructura y referencias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Informe en APA 7 con 26 referencias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217920" y="3803904"/>
            <a:ext cx="5394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4032504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40325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7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941064"/>
            <a:ext cx="4297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Originalidad y aporte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Qué hace distinta a esta solución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información educativa del MALI está dispersa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1</a:t>
            </a:r>
            <a:endParaRPr lang="en-US" sz="1200" dirty="0"/>
          </a:p>
        </p:txBody>
      </p:sp>
      <p:pic>
        <p:nvPicPr>
          <p:cNvPr id="4" name="Image 0" descr="arb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669280" cy="39227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0352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Árbol de problemas (Figura 3 del informe)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675120" y="1371600"/>
            <a:ext cx="49377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0" y="150876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1508760"/>
            <a:ext cx="27432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colecciones de páginas y documentos públicos que un alumno debe revisar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675120" y="2834640"/>
            <a:ext cx="49377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0" y="297180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2971800"/>
            <a:ext cx="27432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fuentes públicas con vacantes por horario o estado de matrícula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675120" y="4297680"/>
            <a:ext cx="49377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0" y="44348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Ley 29733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0" y="4434840"/>
            <a:ext cx="27432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obliga a proteger los datos de alumnos, incluidos menores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de investigación y problemas específicos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¿En qué medida un chatbot basado en IA, alimentado con archivos actualizables y con el acceso a la gestión de alumnos controlado por la Coordinación Académica, puede mejorar la atención de consultas protegiendo los datos personales?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212080"/>
                <a:gridCol w="3474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Problema específico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Respuesta de MALI Asistente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Cómo se mide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Datos dispersos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Base única de 42 documentos y archivos de vacantes y matrícula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Cambio visible en ≤ 30 min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Atención manual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Respuestas con fuente; inscripción, pago y estado de principio a fin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Exactitud ≥ 85 %, sin información ≥ 90 %, p90 &lt; 10 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Poca experiencia en TI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Menús numerados y archivos editables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Satisfacción ≥ 4 de 5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Sin control de acceso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Perfiles, cifrado, verificación del alumno y auditoría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 accesos indebidos y 0 filtraciones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Marco conceptual aplicado al problema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44" y="1633484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55448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Modelo de lenguaje local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94560"/>
            <a:ext cx="22860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Phi-4-mini (~3 800 M parámetros) en Foundry Local: los datos no salen del equipo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355848" y="132588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38728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452" y="1633484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24528" y="155448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Alucinación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38728" y="2194560"/>
            <a:ext cx="22860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Inventar horarios o precios (Ji et al., 2023): el riesgo que más afecta la confianza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63056" y="132588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45936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660" y="1633484"/>
            <a:ext cx="317480" cy="31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31736" y="155448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RAG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45936" y="2194560"/>
            <a:ext cx="22860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Recuperar fragmentos propios y redactar con ellos (Lewis et al., 2020)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970264" y="132588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53144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7868" y="1633484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838944" y="155448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BM25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153144" y="2194560"/>
            <a:ext cx="22860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Ranking por frecuencia, rareza y longitud (Robertson y Zaragoza, 2009)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48640" y="384048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31520" y="40233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244" y="4148084"/>
            <a:ext cx="317480" cy="3174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17320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Orquestación híbrida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31520" y="4709160"/>
            <a:ext cx="22860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Reglas deterministas + modelo generativo (Russell y Norvig, 2021)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3355848" y="384048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3538728" y="40233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3452" y="4148084"/>
            <a:ext cx="317480" cy="3174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224528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MCP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3538728" y="4709160"/>
            <a:ext cx="22860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Protocolo para exponer herramientas al modelo; solo nivel general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6163056" y="384048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345936" y="40233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0660" y="4148084"/>
            <a:ext cx="317480" cy="3174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031736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por roles</a:t>
            </a:r>
            <a:endParaRPr lang="en-US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6345936" y="4709160"/>
            <a:ext cx="22860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Mínimo privilegio por perfil (Ferraiolo y Kuhn, 1992)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970264" y="384048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9153144" y="40233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7868" y="4148084"/>
            <a:ext cx="317480" cy="3174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838944" y="406908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Prompt injection</a:t>
            </a:r>
            <a:endParaRPr lang="en-US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9153144" y="4709160"/>
            <a:ext cx="22860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Texto que intenta saltarse las reglas (OWASP, 2024)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RAG y no otra técnica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35608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Chatbot de reglas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435608"/>
            <a:ext cx="58521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responde lo previsto; cada cambio exige reprogramar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784080" y="1435608"/>
            <a:ext cx="16916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Descartada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642616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Modelo general sin fuentes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642616"/>
            <a:ext cx="58521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Inventa datos del MALI; no cita ni restringe por perfil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784080" y="2642616"/>
            <a:ext cx="16916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Descartada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39896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849624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Ajuste fino (fine-tuning)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849624"/>
            <a:ext cx="58521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Reentrenar con cada cambio; sin control de acceso por usuario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0" y="3849624"/>
            <a:ext cx="16916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Descartada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46904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056632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RAG sobre fuentes del MALI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5056632"/>
            <a:ext cx="58521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Datos propios con fuente; se actualiza editando archivos; separa fuentes por perfil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784080" y="5056632"/>
            <a:ext cx="16916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Seleccionada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el sistema decide, el modelo redacta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2</a:t>
            </a:r>
            <a:endParaRPr lang="en-US" sz="1200" dirty="0"/>
          </a:p>
        </p:txBody>
      </p:sp>
      <p:pic>
        <p:nvPicPr>
          <p:cNvPr id="4" name="Image 0" descr="fluj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949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4632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Flujo general y control de acceso (Figura 5 del informe)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863840" y="1280160"/>
            <a:ext cx="3749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1371600"/>
            <a:ext cx="30175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Controles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Manipulación, datos sensibles y perfil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863840" y="2331720"/>
            <a:ext cx="3749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01000" y="2468880"/>
            <a:ext cx="4572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Datos exactos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Vacantes, matrícula, pagos y alumnos sin pasar por el modelo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863840" y="3383280"/>
            <a:ext cx="3749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01000" y="3520440"/>
            <a:ext cx="4572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0" y="3474720"/>
            <a:ext cx="30175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BM25 recupera y Phi-4-mini redacta con fuente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863840" y="4434840"/>
            <a:ext cx="3749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01000" y="4572000"/>
            <a:ext cx="4572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0" y="4526280"/>
            <a:ext cx="30175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Abstención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Si no hay información, lo dice y deriva al canal oficial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Preparación y tratamiento de los documentos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3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737360" cy="26517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1508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Fuentes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68880"/>
            <a:ext cx="1508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Páginas públicas de MALI Educación (10/10/2026) y 4 documentos del prototipo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 rot="5400000">
            <a:off x="2304288" y="2560320"/>
            <a:ext cx="100584" cy="274320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23160" y="1371600"/>
            <a:ext cx="1737360" cy="26517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11680"/>
            <a:ext cx="1508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Limpieza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468880"/>
            <a:ext cx="1508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Sin menús, promociones ni duplicados; versión más reciente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178808" y="2560320"/>
            <a:ext cx="100584" cy="274320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1371600"/>
            <a:ext cx="1737360" cy="26517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348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2011680"/>
            <a:ext cx="1508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Segmentación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468880"/>
            <a:ext cx="1508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42 documentos de una idea (media de 38,8 palabras)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053328" y="2560320"/>
            <a:ext cx="100584" cy="274320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371600"/>
            <a:ext cx="1737360" cy="26517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011680"/>
            <a:ext cx="1508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Metadatos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2468880"/>
            <a:ext cx="1508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Fuente, nivel de acceso, responsable y vigencia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5400000">
            <a:off x="7927848" y="2560320"/>
            <a:ext cx="100584" cy="274320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0" y="1371600"/>
            <a:ext cx="1737360" cy="26517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2011680"/>
            <a:ext cx="1508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Normalización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2468880"/>
            <a:ext cx="1508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Minúsculas, sin tildes, 69 palabras vacías, singular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802368" y="2560320"/>
            <a:ext cx="100584" cy="274320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921240" y="1371600"/>
            <a:ext cx="1737360" cy="26517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2011680"/>
            <a:ext cx="1508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Sinónimos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2468880"/>
            <a:ext cx="1508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78 equivalencias del dominio («falto» → inasistencias)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38912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1 881 → 1 473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120640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términos tras normalizar (−21,7 %)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297680" y="438912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552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4297680" y="5120640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términos distintos en el vocabulario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046720" y="438912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reentrenamientos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046720" y="5120640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 índice se reconstruye al detectar cambios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estructurados y sintéticos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3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Archivo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Contenido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Tratamiento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vacantes.csv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23 horarios, 16 cursos, 7 sedes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Código único H01–H23 y fechas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alumnos_sinteticos.csv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alumnos ficticios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Semilla fija; DNI 99…, @example.com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matricula.csv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matrículas + las del asistente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Estados y quién validó el pago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pagos_demo.csv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pagos conciliados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Otro código queda «por confirmar»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usuarios.csv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 cuentas de personal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PBKDF2-SHA256 con sal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223760" y="1280160"/>
          <a:ext cx="43891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4709160"/>
            <a:ext cx="43891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Asistencia media 79,7 % (DE 13,0); 51 alumnos bajo 70 %. Proporciones elegidas para probar cada consulta de gestión, no para representar al MALI.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del modelo y configuración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12064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633484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Phi-4-mini en Foundry Local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754880" cy="3383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Privacidad: las consultas no salen del equipo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 costo por consulta y sin GPU obligatoria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se reentrena: se indexa y se calibra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Iteración 1: deformaba nombres («Teatru») → datos exactos sin modelo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Iteración 2: respuestas repetidas → 250 tokens y filtro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8016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Parámetro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Valor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Para qué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k1 y b de BM25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 y 0,75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Documentos breves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Umbral de relevancia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Exactitud vs. abstención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Cobertura mínima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 no cubre, se abstiene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Fragmentos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Hasta 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 2.º si ≥ 60 % del 1.º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Temperatura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Respuestas estables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Máx. tokens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Breves y rápidas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conversacional de la versión final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084832" cy="29260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978" y="17867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423160"/>
            <a:ext cx="1828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Menú numerado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26080"/>
            <a:ext cx="1828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 estudiante · 2 personal; solo acepta números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816352" y="1463040"/>
            <a:ext cx="2084832" cy="29260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47872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8690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53512" y="2423160"/>
            <a:ext cx="1828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Matrícula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953512" y="2926080"/>
            <a:ext cx="1828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Curso → horario (H01–H23) → datos → confirmar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84064" y="1463040"/>
            <a:ext cx="2084832" cy="29260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815584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402" y="178673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21224" y="2423160"/>
            <a:ext cx="1828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Pago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221224" y="2926080"/>
            <a:ext cx="1828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Conciliado: matriculado · Si no: «por confirmar»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351776" y="1463040"/>
            <a:ext cx="2084832" cy="29260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83296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4114" y="178673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88936" y="2423160"/>
            <a:ext cx="1828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Estado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488936" y="2926080"/>
            <a:ext cx="1828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Código de alumno + documento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9619488" y="1463040"/>
            <a:ext cx="2084832" cy="29260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351008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1826" y="1786738"/>
            <a:ext cx="358445" cy="35844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56648" y="2423160"/>
            <a:ext cx="1828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Personal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9756648" y="2926080"/>
            <a:ext cx="1828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Aprueba pagos, consulta alumnos, audita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548640" y="470916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77240" y="4800600"/>
            <a:ext cx="10607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«0» vuelve al menú anterior en cualquier paso · los datos del alumno se muestran enmascarados · cada consulta queda en la auditoría sin el texto de la conversación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el sistema cumple las metas del banco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31089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fuente correcta en 1.er lugar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48/50 · meta ≥ 85 %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463040"/>
            <a:ext cx="31089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93,3 %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consultas sin información reconocidas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14/15 · meta ≥ 90 %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32588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463040"/>
            <a:ext cx="31089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20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accesos indebidos a datos de alumnos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meta 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703320"/>
            <a:ext cx="31089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72000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filtraciones por prompt injection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meta 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3703320"/>
            <a:ext cx="31089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 / 39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572000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pruebas automatizadas aprobadas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inscripción, pagos, permisos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3703320"/>
            <a:ext cx="31089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 s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572000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p90 con NVIDIA CUDA (33,2 s con Intel)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meta &lt; 10 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Rendimiento de Phi-4-mini según el hardware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4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325880"/>
            <a:ext cx="3931920" cy="434340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09560" y="1508760"/>
            <a:ext cx="3520440" cy="4023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Lectura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 GPU NVIDIA el p90 baja de 33,2 s a 1,6 s y cumple la meta de 10 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Velocidad no es exactitud: la recuperación se mantiene en 96 %.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corrida por configuración, sin uso simultáneo: los tiempos pueden variar.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complementarias y sensibilidad del umbral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4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325880"/>
          <a:ext cx="37490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Métrica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Valor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MRR de BM25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0,99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Precisión de la abstención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93,3 %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Recall de la abstención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93,3 %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F1 de la abstención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93,3 %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863840" y="4069080"/>
            <a:ext cx="3749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Subir el umbral mejora la abstención pero baja la exactitud. Con 3,0 las reglas para datos no publicados elevan la detección del sistema a 93 %. Calibrado con el mismo banco: puede ser optimista.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revelan los errores y las limitaciones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10972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417320"/>
            <a:ext cx="4617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«clases virtuales» vs. «modalidad virtual»: la búsqueda léxica no ve el sinónimo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14600"/>
            <a:ext cx="10972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E38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514600"/>
            <a:ext cx="4617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Dos documentos sobre datos personales compiten por el 1.er lugar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611880"/>
            <a:ext cx="10972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S08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611880"/>
            <a:ext cx="4617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«ballet» coincide aunque el nombre del docente no existe en las fuentes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09160"/>
            <a:ext cx="10972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Sesión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4709160"/>
            <a:ext cx="4617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Estado en memoria del proceso: dos usuarios simultáneos pueden compartir la sesión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0" y="1325880"/>
            <a:ext cx="4663440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1508760"/>
            <a:ext cx="4297680" cy="3931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Limitaciones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Datos sintéticos y de demostración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Banco propio usado para calibrar: posible sobreestimación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Recuperación dependiente de palabras y sinónimos manuales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Texto del modelo y usabilidad aún sin calificar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Autenticación y pagos simulados con archivos locales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Propuestas de mejora priorizadas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1005840" cy="457200"/>
          </a:xfrm>
          <a:prstGeom prst="rect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Alta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417320"/>
            <a:ext cx="9509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Aislar sesión y estado por conversación; repetir pruebas con clientes simultáneos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21992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377440"/>
            <a:ext cx="1005840" cy="457200"/>
          </a:xfrm>
          <a:prstGeom prst="rect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Alta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2313432"/>
            <a:ext cx="9509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Banco independiente con preguntas reales anonimizadas y dos revisores humanos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18104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273552"/>
            <a:ext cx="10058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Media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3209544"/>
            <a:ext cx="9509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Búsqueda híbrida BM25 + embeddings y reevaluar el umbral en 4,0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014216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69664"/>
            <a:ext cx="10058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Media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4105656"/>
            <a:ext cx="9509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Despliegue con Entra ID, MFA y conciliación con la pasarela de pagos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910328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65776"/>
            <a:ext cx="10058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Media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5001768"/>
            <a:ext cx="9509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Encuesta de usabilidad a 10 usuarios y p90 en el equipo de producción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Aporte e innovación de la solución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7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6792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544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El sistema decide, el modelo redacta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Datos exactos y personales nunca pasan por el modelo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2588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004" y="1679204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12080" y="15544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IA local y privada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Phi-4-mini en Foundry Local; MCP solo con información general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2588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7532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44" y="1679204"/>
            <a:ext cx="317480" cy="31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61120" y="15544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Seguridad en capas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Perfiles por consulta, bloqueo de manipulación, cifrado y auditoría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64" y="3919484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79476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Humano en el circuito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526280"/>
            <a:ext cx="31089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Pagos «por confirmar» hasta que el personal los aprueba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1004" y="3919484"/>
            <a:ext cx="317480" cy="3174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12080" y="379476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Verificación sin cuenta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526280"/>
            <a:ext cx="31089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Código de alumno + documento para ver su matrícula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04672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75320" y="3794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0044" y="3919484"/>
            <a:ext cx="317480" cy="3174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61120" y="379476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Evaluación reproducible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4526280"/>
            <a:ext cx="31089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104 casos, 39 pruebas y análisis de sensibilidad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51760"/>
            <a:ext cx="10058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Un chatbot RAG con controles de acceso puede atender las consultas del MALI con fuente y sin exponer datos personales: 96 % de exactitud de recuperación, 93,3 % de abstención correcta y 0 accesos indebidos. Falta confirmarlo con preguntas reales, sesiones aisladas y evaluación humana.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235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principales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57200"/>
            <a:ext cx="164592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Criterio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Ferraiolo, D. F., y Kuhn, D. R. (1992). Role-based access controls. 15th National Computer Security Conference.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Ji, Z., et al. (2023). Survey of hallucination in natural language generation. ACM Computing Surveys, 55(12).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Lewis, P., et al. (2020). Retrieval-augmented generation for knowledge-intensive NLP tasks. NeurIPS, 33.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Ley N.º 29733 (2011) y D. S. N.º 016-2024-JUS (2024). Protección de datos personales. Perú.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Microsoft. (2025). Microsoft Agent Framework; Phi-4-mini-instruct; What is Foundry Local?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Miao, F., y Holmes, W. (2023). Guidance for generative AI in education and research. UNESCO.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OWASP Foundation. (2024). OWASP top 10 for LLM applications 2025.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Robertson, S., y Zaragoza, H. (2009). The probabilistic relevance framework: BM25 and beyond. FnTIR, 3(4).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Russell, S., y Norvig, P. (2021). Artificial intelligence: A modern approach (4.ª ed.). Pearson.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4"/>
                </a:solidFill>
              </a:rPr>
              <a:t>Lista completa (APA 7) en la sección 6 del informe.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7680960" cy="23774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Demostración en vivo: «hola» → 1 estudiante → 1 matricularme → código de horario → pago → estado de matrícula</a:t>
            </a:r>
            <a:endParaRPr lang="en-US" sz="1800" dirty="0"/>
          </a:p>
        </p:txBody>
      </p:sp>
      <p:pic>
        <p:nvPicPr>
          <p:cNvPr id="4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54864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LI Asistente">
  <a:themeElements>
    <a:clrScheme name="MALI Asistente">
      <a:dk1>
        <a:srgbClr val="262326"/>
      </a:dk1>
      <a:lt1>
        <a:srgbClr val="FFFFFF"/>
      </a:lt1>
      <a:dk2>
        <a:srgbClr val="5A1F38"/>
      </a:dk2>
      <a:lt2>
        <a:srgbClr val="F4EEF1"/>
      </a:lt2>
      <a:accent1>
        <a:srgbClr val="7A2948"/>
      </a:accent1>
      <a:accent2>
        <a:srgbClr val="C8963E"/>
      </a:accent2>
      <a:accent3>
        <a:srgbClr val="2E6E73"/>
      </a:accent3>
      <a:accent4>
        <a:srgbClr val="9C6B84"/>
      </a:accent4>
      <a:accent5>
        <a:srgbClr val="D9C6CF"/>
      </a:accent5>
      <a:accent6>
        <a:srgbClr val="B4463C"/>
      </a:accent6>
      <a:hlink>
        <a:srgbClr val="2E6E73"/>
      </a:hlink>
      <a:folHlink>
        <a:srgbClr val="7A2948"/>
      </a:folHlink>
    </a:clrScheme>
    <a:fontScheme name="MALI Asisten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MALI Asistente</dc:title>
  <dc:subject>PptxGenJS Presentation</dc:subject>
  <dc:creator>Equipo IS302</dc:creator>
  <cp:lastModifiedBy>Equipo IS302</cp:lastModifiedBy>
  <cp:revision>1</cp:revision>
  <dcterms:created xsi:type="dcterms:W3CDTF">2026-10-17T23:11:10Z</dcterms:created>
  <dcterms:modified xsi:type="dcterms:W3CDTF">2026-10-17T23:11:10Z</dcterms:modified>
</cp:coreProperties>
</file>